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Buonasera a tutti. Vi ho chiamati perché siete dieci persone che mio padre conosce e di cui si fida. E perché secondo me siete i dieci che possono far partire una cosa che, da soli, nessuno di noi può fare. Vi prendo venti minuti, poi parliamo.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vi vendo niente. Vi sto dicendo quello che vedete voi tutti i sabati mattina. Non è colpa vostra, è il mondo che è cambiato. Però non vuol dire che dobbiamo subire e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Pausa. Lasciali pensare. È la slide più importante della presentazione. Il problema non è il calo. Il problema è che siete invisibili come persone. Per il cliente siete 'il banco della frutta'. Non Mario, non Maria. Il banco. E al banco si sostituisce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è la parola chiave di oggi: POSIZIONAMENTO. Non è marketing astratto. È la risposta a una domanda semplice: 'perché un cliente nuovo dovrebbe scegliere te e non il banco accanto?'. Se la risposta è solo il prezzo, avete perso in partenza. C'è sempre il supermercato.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Adesso ribaltiamo. Avete TUTTO quello che serve per costruire un posizionamento forte. Lo avete già. Solo che non lo raccontate. Lo date per scontato. Per voi è normale alzarvi alle quattro, per il cliente è una storia. Per voi è normale conoscere il contadino, per il cliente è la garanzia.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Adesso vi mostro come ci arriviamo. Quattro tappe. Quattro mesi. Alla fine voi dovete essere AUTONOMI — non dipendenti da me. Io sono il facilitatore dei primi mesi, poi voi camminate. Questa è la promessa principale dell'incontro di oggi.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uno. Capire chi siete. Il form di oggi è esattamente questo — non è una registrazione burocratica. È il mio modo di farvi DIRE per iscritto cose che date per scontate. È la materia prima per tutto il resto. Senza, non si fa niente.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due. Dal sapere chi siete a dirlo bene. Qui costruiamo la prima versione di tutto: il vostro profilo sul sito, le prime tre foto buone, la prima volta che provate a scrivere qualcosa sui vostri canali. Non aspettiamo la perfezione — partiamo. Si aggiusta strada facendo.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tre. Adesso si esce in strada. Pubblicate i contenuti, ascoltate cosa dicono i clienti, vediamo i numeri. Questa è la fase in cui passate dal SUBIRE al GUIDARE. Io vi affianco ma cominciate a prendere decisioni da soli. Imparate a riconoscere cosa funziona.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quattro. Questo è il vero obiettivo di tutta la cosa. Dopo quattro mesi, voi camminate. Non perché vi ho mollato — perché siete VOI a saperlo fare. È come imparare a guidare: all'inizio uno in macchina con voi, poi guidate da soli. Io resto disponibile, ma non sono più necessario tutti i giorni.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Tutto questo percorso si appoggia su tre asset. Il vostro brand è il principale — siete voi, la vostra storia, la vostra faccia. Poi i social personali, che già qualcuno di voi usa. E poi IMercati: il SITO è lo strumento che mette ordine, ma è uno strumento, non IL progetto. Voglio che lo abbiate chiaro: il sito serve a voi, non viceversa.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patto. Non c'è da firmare niente di legale. È una stretta di mano. Funziona se ci credete davvero, altrimenti meglio dirmelo adesso. La cosa importante: io vi accompagno fino al quarto mese, poi siete voi a guidare.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adesso si comincia. Step uno è esattamente questo: il form. Se siete con me, lo riempiamo qui, insieme. Dieci minuti. È il primo gesto concreto di tutto il percorso. Dopo, parliamo, domande, dubbi, tutto.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194560"/>
            <a:ext cx="914400" cy="508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0" i="0">
                <a:solidFill>
                  <a:srgbClr val="2A2620"/>
                </a:solidFill>
                <a:latin typeface="Georgia"/>
              </a:rPr>
              <a:t>IMercati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1">
                <a:solidFill>
                  <a:srgbClr val="4A4339"/>
                </a:solidFill>
                <a:latin typeface="Georgia"/>
              </a:rPr>
              <a:t>I mercati della provincia di Imperia. Insieme.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7A6F60"/>
                </a:solidFill>
                <a:latin typeface="Calibri"/>
              </a:rPr>
              <a:t>Maggio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6F60"/>
                </a:solidFill>
                <a:latin typeface="Calibri"/>
              </a:rPr>
              <a:t>Presentazione ai primi 10 operatori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IL PUNTO DI PARTENZA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Lo sappiamo</a:t>
            </a:r>
          </a:p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tutti.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02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11880"/>
            <a:ext cx="228600" cy="127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4A4339"/>
                </a:solidFill>
                <a:latin typeface="Georgia"/>
              </a:rPr>
              <a:t>I clienti dei mercati calano ogni anno.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228600" cy="127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4A4339"/>
                </a:solidFill>
                <a:latin typeface="Georgia"/>
              </a:rPr>
              <a:t>I giovani comprano online, gli anziani escono di meno.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257800"/>
            <a:ext cx="228600" cy="127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9377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4A4339"/>
                </a:solidFill>
                <a:latin typeface="Georgia"/>
              </a:rPr>
              <a:t>Chi entra al mercato per caso è sempre meno.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IL VERO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Per i clienti</a:t>
            </a:r>
          </a:p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siete </a:t>
            </a:r>
            <a:r>
              <a:rPr sz="5400" b="0" i="1">
                <a:solidFill>
                  <a:srgbClr val="5D6E3B"/>
                </a:solidFill>
                <a:latin typeface="Georgia"/>
              </a:rPr>
              <a:t>"il banco".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620"/>
                </a:solidFill>
                <a:latin typeface="Georgia"/>
              </a:rPr>
              <a:t>Non Mario. Non Maria.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620"/>
                </a:solidFill>
                <a:latin typeface="Georgia"/>
              </a:rPr>
              <a:t>Non chi pesca il pesce alle quattro del mattino.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620"/>
                </a:solidFill>
                <a:latin typeface="Georgia"/>
              </a:rPr>
              <a:t>Non chi sceglie l'olio dei contadini di Pontedassio.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620"/>
                </a:solidFill>
                <a:latin typeface="Georgia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2400" b="0" i="1">
                <a:solidFill>
                  <a:srgbClr val="5D6E3B"/>
                </a:solidFill>
                <a:latin typeface="Georgia"/>
              </a:rPr>
              <a:t>"Il banco della frutta".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620"/>
                </a:solidFill>
                <a:latin typeface="Georgia"/>
              </a:rPr>
              <a:t>E al banco — si sostituisce facile.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IL LAVORO VERO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Costruire il vostro</a:t>
            </a:r>
          </a:p>
          <a:p>
            <a:pPr algn="l"/>
            <a:r>
              <a:rPr sz="5400" b="0" i="1">
                <a:solidFill>
                  <a:srgbClr val="5D6E3B"/>
                </a:solidFill>
                <a:latin typeface="Georgia"/>
              </a:rPr>
              <a:t>posizionamento.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A2620"/>
                </a:solidFill>
                <a:latin typeface="Georgia"/>
              </a:rPr>
              <a:t>Una parola difficile per una cosa semplice:</a:t>
            </a:r>
          </a:p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A2620"/>
                </a:solidFill>
                <a:latin typeface="Georgia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2200" b="0" i="1">
                <a:solidFill>
                  <a:srgbClr val="5D6E3B"/>
                </a:solidFill>
                <a:latin typeface="Georgia"/>
              </a:rPr>
              <a:t>"Perché dovrei comprare da te,</a:t>
            </a:r>
          </a:p>
          <a:p>
            <a:pPr algn="l">
              <a:lnSpc>
                <a:spcPct val="125000"/>
              </a:lnSpc>
            </a:pPr>
            <a:r>
              <a:rPr sz="2200" b="0" i="1">
                <a:solidFill>
                  <a:srgbClr val="5D6E3B"/>
                </a:solidFill>
                <a:latin typeface="Georgia"/>
              </a:rPr>
              <a:t>e non dal banco accanto?"</a:t>
            </a:r>
          </a:p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A2620"/>
                </a:solidFill>
                <a:latin typeface="Georgia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A2620"/>
                </a:solidFill>
                <a:latin typeface="Georgia"/>
              </a:rPr>
              <a:t>Se la risposta è solo il prezzo,</a:t>
            </a:r>
          </a:p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A2620"/>
                </a:solidFill>
                <a:latin typeface="Georgia"/>
              </a:rPr>
              <a:t>avete già perso. C'è il supermercato.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PERÒ...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Avete tutto quello</a:t>
            </a:r>
          </a:p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che serve. Già.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05 / 13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336499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200400"/>
            <a:ext cx="10104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4A4339"/>
                </a:solidFill>
                <a:latin typeface="Calibri"/>
              </a:rPr>
              <a:t>Un </a:t>
            </a:r>
            <a:r>
              <a:rPr sz="1800" b="1" i="0">
                <a:solidFill>
                  <a:srgbClr val="2A2620"/>
                </a:solidFill>
                <a:latin typeface="Calibri"/>
              </a:rPr>
              <a:t>mestiere</a:t>
            </a:r>
            <a:r>
              <a:rPr sz="1800" b="0" i="0">
                <a:solidFill>
                  <a:srgbClr val="4A4339"/>
                </a:solidFill>
                <a:latin typeface="Calibri"/>
              </a:rPr>
              <a:t> che fate da vent'anni — quello non si improvvisa.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95935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794760"/>
            <a:ext cx="10104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4A4339"/>
                </a:solidFill>
                <a:latin typeface="Calibri"/>
              </a:rPr>
              <a:t>Una </a:t>
            </a:r>
            <a:r>
              <a:rPr sz="1800" b="1" i="0">
                <a:solidFill>
                  <a:srgbClr val="2A2620"/>
                </a:solidFill>
                <a:latin typeface="Calibri"/>
              </a:rPr>
              <a:t>faccia, una voce, una storia</a:t>
            </a:r>
            <a:r>
              <a:rPr sz="1800" b="0" i="0">
                <a:solidFill>
                  <a:srgbClr val="4A4339"/>
                </a:solidFill>
                <a:latin typeface="Calibri"/>
              </a:rPr>
              <a:t>. Tre cose che Amazon non avrà mai.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55371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89120"/>
            <a:ext cx="10104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4A4339"/>
                </a:solidFill>
                <a:latin typeface="Calibri"/>
              </a:rPr>
              <a:t>Conoscete </a:t>
            </a:r>
            <a:r>
              <a:rPr sz="1800" b="1" i="0">
                <a:solidFill>
                  <a:srgbClr val="2A2620"/>
                </a:solidFill>
                <a:latin typeface="Calibri"/>
              </a:rPr>
              <a:t>i contadini, i pescatori, i fornitori</a:t>
            </a:r>
            <a:r>
              <a:rPr sz="1800" b="0" i="0">
                <a:solidFill>
                  <a:srgbClr val="4A4339"/>
                </a:solidFill>
                <a:latin typeface="Calibri"/>
              </a:rPr>
              <a:t> per nome.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14807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983480"/>
            <a:ext cx="10104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4A4339"/>
                </a:solidFill>
                <a:latin typeface="Calibri"/>
              </a:rPr>
              <a:t>Sapete </a:t>
            </a:r>
            <a:r>
              <a:rPr sz="1800" b="1" i="0">
                <a:solidFill>
                  <a:srgbClr val="2A2620"/>
                </a:solidFill>
                <a:latin typeface="Calibri"/>
              </a:rPr>
              <a:t>scegliere il prodotto</a:t>
            </a:r>
            <a:r>
              <a:rPr sz="1800" b="0" i="0">
                <a:solidFill>
                  <a:srgbClr val="4A4339"/>
                </a:solidFill>
                <a:latin typeface="Calibri"/>
              </a:rPr>
              <a:t> meglio del cliente — perché lo fate da una vita.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74243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577840"/>
            <a:ext cx="10104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4A4339"/>
                </a:solidFill>
                <a:latin typeface="Calibri"/>
              </a:rPr>
              <a:t>Lo date per scontato. </a:t>
            </a:r>
            <a:r>
              <a:rPr sz="1800" b="1" i="0">
                <a:solidFill>
                  <a:srgbClr val="2A2620"/>
                </a:solidFill>
                <a:latin typeface="Calibri"/>
              </a:rPr>
              <a:t>Non lo raccontate.</a:t>
            </a:r>
            <a:r>
              <a:rPr sz="1800" b="0" i="0">
                <a:solidFill>
                  <a:srgbClr val="4A4339"/>
                </a:solidFill>
                <a:latin typeface="Calibri"/>
              </a:rPr>
              <a:t> Questo è l'errore.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COME CI ARRIVIAMO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Quattro tappe.</a:t>
            </a:r>
          </a:p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Voi al centro.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4A4339"/>
                </a:solidFill>
                <a:latin typeface="Georgia"/>
              </a:rPr>
              <a:t>Vi accompagno all'inizio. Dopo, camminate da soli.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4864" cy="27432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65760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7D8F4E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7A6F60"/>
                </a:solidFill>
                <a:latin typeface="Calibri"/>
              </a:rPr>
              <a:t>MESE 1 — CAPIRVI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548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A2620"/>
                </a:solidFill>
                <a:latin typeface="Georgia"/>
              </a:rPr>
              <a:t>Chi siete davvero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34924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339"/>
                </a:solidFill>
                <a:latin typeface="Calibri"/>
              </a:rPr>
              <a:t>Form, una chiacchierata, mettiamo per iscritto la vostra storia e cosa vi rende diversi.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52044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3520440"/>
            <a:ext cx="54864" cy="27432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365760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7D8F4E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434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7A6F60"/>
                </a:solidFill>
                <a:latin typeface="Calibri"/>
              </a:rPr>
              <a:t>MESE 1–2 — METTERLO A FUOCO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7548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A2620"/>
                </a:solidFill>
                <a:latin typeface="Georgia"/>
              </a:rPr>
              <a:t>Il vostro profilo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534924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339"/>
                </a:solidFill>
                <a:latin typeface="Calibri"/>
              </a:rPr>
              <a:t>Costruiamo insieme la prima versione del messaggio: foto, parole, primi contenuti.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52044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520440"/>
            <a:ext cx="54864" cy="27432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65760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7D8F4E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434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7A6F60"/>
                </a:solidFill>
                <a:latin typeface="Calibri"/>
              </a:rPr>
              <a:t>MESE 2–4 — PROVARE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7548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A2620"/>
                </a:solidFill>
                <a:latin typeface="Georgia"/>
              </a:rPr>
              <a:t>Pubblicare e ascoltare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34924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339"/>
                </a:solidFill>
                <a:latin typeface="Calibri"/>
              </a:rPr>
              <a:t>Mettete fuori contenuti, vediamo cosa funziona, aggiustiamo. Faccio io, con voi.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352044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3520440"/>
            <a:ext cx="54864" cy="27432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365760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7D8F4E"/>
                </a:solidFill>
                <a:latin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4434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7A6F60"/>
                </a:solidFill>
                <a:latin typeface="Calibri"/>
              </a:rPr>
              <a:t>MESE 4+ — AUTONOMIA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7548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A2620"/>
                </a:solidFill>
                <a:latin typeface="Georgia"/>
              </a:rPr>
              <a:t>Camminate da soli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534924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339"/>
                </a:solidFill>
                <a:latin typeface="Calibri"/>
              </a:rPr>
              <a:t>Avete il metodo, gli strumenti, le abitudini. Io resto disponibile, ma non vi servo più ogni giorno.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STEP 1 — MESE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7D8F4E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A6F60"/>
                </a:solidFill>
                <a:latin typeface="Calibri"/>
              </a:rPr>
              <a:t>CAPIRVI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0" i="0">
                <a:solidFill>
                  <a:srgbClr val="2A2620"/>
                </a:solidFill>
                <a:latin typeface="Georgia"/>
              </a:rPr>
              <a:t>Mettere per iscritto</a:t>
            </a:r>
          </a:p>
          <a:p>
            <a:r>
              <a:rPr sz="3400" b="0" i="0">
                <a:solidFill>
                  <a:srgbClr val="2A2620"/>
                </a:solidFill>
                <a:latin typeface="Georgia"/>
              </a:rPr>
              <a:t>quello che date per </a:t>
            </a:r>
            <a:r>
              <a:rPr sz="3400" b="0" i="1">
                <a:solidFill>
                  <a:srgbClr val="5D6E3B"/>
                </a:solidFill>
                <a:latin typeface="Georgia"/>
              </a:rPr>
              <a:t>scontato.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4A4339"/>
                </a:solidFill>
                <a:latin typeface="Georgia"/>
              </a:rPr>
              <a:t>Voi sapete tutto. Ma è 'implicito'. Lo facciamo diventare parole.</a:t>
            </a:r>
          </a:p>
        </p:txBody>
      </p:sp>
      <p:sp>
        <p:nvSpPr>
          <p:cNvPr id="7" name="Oval 6"/>
          <p:cNvSpPr/>
          <p:nvPr/>
        </p:nvSpPr>
        <p:spPr>
          <a:xfrm>
            <a:off x="4434840" y="354787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38328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Compilate il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form di oggi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— 34 domande, dieci minuti.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414223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97764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Una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chiacchierata di 30 minuti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, di persona o al telefono, per approfondire.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473659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57200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Tiriamo fuori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tre cose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: chi siete, cosa vi rende diversi, la frase che vi descrive in dieci parole.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5486400"/>
            <a:ext cx="7132320" cy="6350"/>
          </a:xfrm>
          <a:prstGeom prst="rect">
            <a:avLst/>
          </a:prstGeom>
          <a:solidFill>
            <a:srgbClr val="DD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55961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44522A"/>
                </a:solidFill>
                <a:latin typeface="Calibri"/>
              </a:rPr>
              <a:t>COSA FACCIO 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94360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A6F60"/>
                </a:solidFill>
                <a:latin typeface="Georgia"/>
              </a:rPr>
              <a:t>Vi ascolto, scrivo, vi rimando una scheda chiara. Quella scheda è la base di tutto il resto.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STEP 2 — MESE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7D8F4E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A6F60"/>
                </a:solidFill>
                <a:latin typeface="Calibri"/>
              </a:rPr>
              <a:t>METTERLO A FUOCO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0" i="0">
                <a:solidFill>
                  <a:srgbClr val="2A2620"/>
                </a:solidFill>
                <a:latin typeface="Georgia"/>
              </a:rPr>
              <a:t>Il vostro profilo</a:t>
            </a:r>
          </a:p>
          <a:p>
            <a:r>
              <a:rPr sz="3400" b="0" i="0">
                <a:solidFill>
                  <a:srgbClr val="2A2620"/>
                </a:solidFill>
                <a:latin typeface="Georgia"/>
              </a:rPr>
              <a:t>diventa </a:t>
            </a:r>
            <a:r>
              <a:rPr sz="3400" b="0" i="1">
                <a:solidFill>
                  <a:srgbClr val="5D6E3B"/>
                </a:solidFill>
                <a:latin typeface="Georgia"/>
              </a:rPr>
              <a:t>visibile.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4A4339"/>
                </a:solidFill>
                <a:latin typeface="Georgia"/>
              </a:rPr>
              <a:t>Costruiamo insieme la prima versione del messaggio. Imperfetta, ma vostra.</a:t>
            </a:r>
          </a:p>
        </p:txBody>
      </p:sp>
      <p:sp>
        <p:nvSpPr>
          <p:cNvPr id="7" name="Oval 6"/>
          <p:cNvSpPr/>
          <p:nvPr/>
        </p:nvSpPr>
        <p:spPr>
          <a:xfrm>
            <a:off x="4434840" y="354787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38328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Una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sessione foto al banco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— vi raccontate al cliente, io scatto.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414223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97764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Scriviamo insieme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il vostro testo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: chi siete, in una pagina.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473659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57200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Pubblichiamo il profilo su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IMercati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e prepariamo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3 contenuti pronti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per i vostri social.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5486400"/>
            <a:ext cx="7132320" cy="6350"/>
          </a:xfrm>
          <a:prstGeom prst="rect">
            <a:avLst/>
          </a:prstGeom>
          <a:solidFill>
            <a:srgbClr val="DD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55961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44522A"/>
                </a:solidFill>
                <a:latin typeface="Calibri"/>
              </a:rPr>
              <a:t>COSA FACCIO 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94360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A6F60"/>
                </a:solidFill>
                <a:latin typeface="Georgia"/>
              </a:rPr>
              <a:t>Scrivo, scatto, monto. Vi mostro come l'ho fatto, così la seconda volta lo facciamo insieme.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STEP 3 — MESE 2–4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7D8F4E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A6F60"/>
                </a:solidFill>
                <a:latin typeface="Calibri"/>
              </a:rPr>
              <a:t>PROVARE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0" i="0">
                <a:solidFill>
                  <a:srgbClr val="2A2620"/>
                </a:solidFill>
                <a:latin typeface="Georgia"/>
              </a:rPr>
              <a:t>Pubblicare,</a:t>
            </a:r>
          </a:p>
          <a:p>
            <a:r>
              <a:rPr sz="3400" b="0" i="0">
                <a:solidFill>
                  <a:srgbClr val="2A2620"/>
                </a:solidFill>
                <a:latin typeface="Georgia"/>
              </a:rPr>
              <a:t>ascoltare, </a:t>
            </a:r>
            <a:r>
              <a:rPr sz="3400" b="0" i="1">
                <a:solidFill>
                  <a:srgbClr val="5D6E3B"/>
                </a:solidFill>
                <a:latin typeface="Georgia"/>
              </a:rPr>
              <a:t>aggiustare.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4A4339"/>
                </a:solidFill>
                <a:latin typeface="Georgia"/>
              </a:rPr>
              <a:t>Si esce in strada. Si guarda cosa funziona. Si cambia se serve.</a:t>
            </a:r>
          </a:p>
        </p:txBody>
      </p:sp>
      <p:sp>
        <p:nvSpPr>
          <p:cNvPr id="7" name="Oval 6"/>
          <p:cNvSpPr/>
          <p:nvPr/>
        </p:nvSpPr>
        <p:spPr>
          <a:xfrm>
            <a:off x="4434840" y="354787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38328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Un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contenuto a settimana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minimo — facciamo insieme, voi sempre più protagonisti.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414223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97764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Una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chiamata ogni due settimane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di 30 minuti per decidere cosa funziona.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473659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57200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Imparate a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riconoscere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quando un contenuto 'tira' e quando no — è esperienza, non magia.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5486400"/>
            <a:ext cx="7132320" cy="6350"/>
          </a:xfrm>
          <a:prstGeom prst="rect">
            <a:avLst/>
          </a:prstGeom>
          <a:solidFill>
            <a:srgbClr val="DD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55961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44522A"/>
                </a:solidFill>
                <a:latin typeface="Calibri"/>
              </a:rPr>
              <a:t>COSA FACCIO 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94360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A6F60"/>
                </a:solidFill>
                <a:latin typeface="Georgia"/>
              </a:rPr>
              <a:t>Vi mostro i dati, vi do consigli, ma le decisioni sono vostre. Inizia il passaggio di mano.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STEP 4 — MESE 4 IN POI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7D8F4E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A6F60"/>
                </a:solidFill>
                <a:latin typeface="Calibri"/>
              </a:rPr>
              <a:t>AUTONOMIA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0" i="0">
                <a:solidFill>
                  <a:srgbClr val="2A2620"/>
                </a:solidFill>
                <a:latin typeface="Georgia"/>
              </a:rPr>
              <a:t>Camminate </a:t>
            </a:r>
            <a:r>
              <a:rPr sz="3400" b="0" i="1">
                <a:solidFill>
                  <a:srgbClr val="5D6E3B"/>
                </a:solidFill>
                <a:latin typeface="Georgia"/>
              </a:rPr>
              <a:t>da soli.</a:t>
            </a:r>
          </a:p>
          <a:p>
            <a:r>
              <a:rPr sz="3400" b="0" i="0">
                <a:solidFill>
                  <a:srgbClr val="2A2620"/>
                </a:solidFill>
                <a:latin typeface="Georgia"/>
              </a:rPr>
              <a:t>Questo è il vero obiettivo.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4A4339"/>
                </a:solidFill>
                <a:latin typeface="Georgia"/>
              </a:rPr>
              <a:t>Avete il metodo, gli strumenti, le abitudini. Io resto, ma non vi servo più ogni giorno.</a:t>
            </a:r>
          </a:p>
        </p:txBody>
      </p:sp>
      <p:sp>
        <p:nvSpPr>
          <p:cNvPr id="7" name="Oval 6"/>
          <p:cNvSpPr/>
          <p:nvPr/>
        </p:nvSpPr>
        <p:spPr>
          <a:xfrm>
            <a:off x="4434840" y="354787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38328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Sapete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fare e pubblicare contenuti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da soli, anche solo col telefono.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414223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97764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Avete uno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strumento (in arrivo) per generare post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partendo da una foto e due frasi.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473659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57200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Il vostro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profilo IMercati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resta vivo, lo aggiornate voi quando serve.</a:t>
            </a:r>
          </a:p>
        </p:txBody>
      </p:sp>
      <p:sp>
        <p:nvSpPr>
          <p:cNvPr id="13" name="Oval 12"/>
          <p:cNvSpPr/>
          <p:nvPr/>
        </p:nvSpPr>
        <p:spPr>
          <a:xfrm>
            <a:off x="4434840" y="533095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5166360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Io resto disponibile per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consigli, controlli, decisioni grandi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. Non per la routine.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5486400"/>
            <a:ext cx="7132320" cy="6350"/>
          </a:xfrm>
          <a:prstGeom prst="rect">
            <a:avLst/>
          </a:prstGeom>
          <a:solidFill>
            <a:srgbClr val="DD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55961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44522A"/>
                </a:solidFill>
                <a:latin typeface="Calibri"/>
              </a:rPr>
              <a:t>COSA FACCIO 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94360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A6F60"/>
                </a:solidFill>
                <a:latin typeface="Georgia"/>
              </a:rPr>
              <a:t>Mi tolgo di mezzo. Resto allenatore — non più assistente.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SU COSA CI APPOGGIAMO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Gli asset della</a:t>
            </a:r>
          </a:p>
          <a:p>
            <a:pPr algn="l"/>
            <a:r>
              <a:rPr sz="5400" b="0" i="1">
                <a:solidFill>
                  <a:srgbClr val="5D6E3B"/>
                </a:solidFill>
                <a:latin typeface="Georgia"/>
              </a:rPr>
              <a:t>strategia.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3520440" cy="2743200"/>
          </a:xfrm>
          <a:prstGeom prst="rect">
            <a:avLst/>
          </a:prstGeom>
          <a:solidFill>
            <a:srgbClr val="F0F1E4"/>
          </a:solidFill>
          <a:ln>
            <a:solidFill>
              <a:srgbClr val="B8C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7033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D6E3B"/>
                </a:solidFill>
                <a:latin typeface="Georgia"/>
              </a:rPr>
              <a:t>ASSET PRINCIPALE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6052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A2620"/>
                </a:solidFill>
                <a:latin typeface="Georgia"/>
              </a:rPr>
              <a:t>Voi.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339"/>
                </a:solidFill>
                <a:latin typeface="Calibri"/>
              </a:rPr>
              <a:t>La vostra faccia, la vostra storia, il vostro mestiere. Tutto il resto è al servizio di questo.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3383280"/>
            <a:ext cx="3520440" cy="2743200"/>
          </a:xfrm>
          <a:prstGeom prst="rect">
            <a:avLst/>
          </a:prstGeom>
          <a:solidFill>
            <a:srgbClr val="F4EDE0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7033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D6E3B"/>
                </a:solidFill>
                <a:latin typeface="Georgia"/>
              </a:rPr>
              <a:t>STRUMENTO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416052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A2620"/>
                </a:solidFill>
                <a:latin typeface="Georgia"/>
              </a:rPr>
              <a:t>I vostri canali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48920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339"/>
                </a:solidFill>
                <a:latin typeface="Calibri"/>
              </a:rPr>
              <a:t>Facebook, Instagram, WhatsApp. Quelli che già usate. Li valorizziamo, non ne aggiungiamo di nuovi.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383280"/>
            <a:ext cx="3520440" cy="2743200"/>
          </a:xfrm>
          <a:prstGeom prst="rect">
            <a:avLst/>
          </a:prstGeom>
          <a:solidFill>
            <a:srgbClr val="F4EDE0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7033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D6E3B"/>
                </a:solidFill>
                <a:latin typeface="Georgia"/>
              </a:rPr>
              <a:t>STRUMENTO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16052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A2620"/>
                </a:solidFill>
                <a:latin typeface="Georgia"/>
              </a:rPr>
              <a:t>IMercati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8920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339"/>
                </a:solidFill>
                <a:latin typeface="Calibri"/>
              </a:rPr>
              <a:t>Il sito dove la gente vi cerca. Profilo, foto, prodotti, orari. È già online — lo guardate dopo.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IL PATTO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2A2620"/>
                </a:solidFill>
                <a:latin typeface="Georgia"/>
              </a:rPr>
              <a:t>Tra noi.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A2620"/>
                </a:solidFill>
                <a:latin typeface="Georgia"/>
              </a:rPr>
              <a:t>Io mi impegno 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03320"/>
            <a:ext cx="5212080" cy="254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414223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97764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Accompagnarvi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per quattro mesi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, fino all'autonomia.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73659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57200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A2620"/>
                </a:solidFill>
                <a:latin typeface="Calibri"/>
              </a:rPr>
              <a:t>Non chiedervi soldi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, mai, voi dieci.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33095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16636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Darvi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metodo, strumenti, abitudini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— non solo contenuti.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92531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76072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Restare disponibile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anche dopo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, su decisioni grandi.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A2620"/>
                </a:solidFill>
                <a:latin typeface="Georgia"/>
              </a:rPr>
              <a:t>Voi vi impegnate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03320"/>
            <a:ext cx="5212080" cy="25400"/>
          </a:xfrm>
          <a:prstGeom prst="rect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414223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97764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Compilare il form,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oggi o entro una settimana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.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473659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57200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A2620"/>
                </a:solidFill>
                <a:latin typeface="Calibri"/>
              </a:rPr>
              <a:t>Partecipare attivamente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ai quattro step. Non passivamente.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533095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516636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Provare a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pubblicare con costanza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nei mesi 2–4.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5925312"/>
            <a:ext cx="109728" cy="109728"/>
          </a:xfrm>
          <a:prstGeom prst="ellipse">
            <a:avLst/>
          </a:prstGeom>
          <a:solidFill>
            <a:srgbClr val="7D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76072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A4339"/>
                </a:solidFill>
                <a:latin typeface="Calibri"/>
              </a:rPr>
              <a:t>Dirmi </a:t>
            </a:r>
            <a:r>
              <a:rPr sz="1400" b="1" i="0">
                <a:solidFill>
                  <a:srgbClr val="2A2620"/>
                </a:solidFill>
                <a:latin typeface="Calibri"/>
              </a:rPr>
              <a:t>la verità</a:t>
            </a:r>
            <a:r>
              <a:rPr sz="1400" b="0" i="0">
                <a:solidFill>
                  <a:srgbClr val="4A4339"/>
                </a:solidFill>
                <a:latin typeface="Calibri"/>
              </a:rPr>
              <a:t> quando vi chiedo cosa ne pensate.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4522A"/>
                </a:solidFill>
                <a:latin typeface="Calibri"/>
              </a:rPr>
              <a:t>STEP 1 INIZIA ADESSO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6600" b="0" i="0">
                <a:solidFill>
                  <a:srgbClr val="2A2620"/>
                </a:solidFill>
                <a:latin typeface="Georgia"/>
              </a:rPr>
              <a:t>Il form.</a:t>
            </a:r>
          </a:p>
          <a:p>
            <a:pPr algn="ctr"/>
            <a:r>
              <a:rPr sz="6600" b="0" i="1">
                <a:solidFill>
                  <a:srgbClr val="5D6E3B"/>
                </a:solidFill>
                <a:latin typeface="Georgia"/>
              </a:rPr>
              <a:t>Dieci minuti.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4A4339"/>
                </a:solidFill>
                <a:latin typeface="Calibri"/>
              </a:rPr>
              <a:t>Il primo gesto concreto del percorso. Si riempie qui, insieme. Poi domande, dubbi, tutto.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3767" y="4937760"/>
            <a:ext cx="3291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8087" y="5166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A2620"/>
                </a:solidFill>
                <a:latin typeface="Georgia"/>
              </a:rPr>
              <a:t>Form cartaceo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56235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7A6F60"/>
                </a:solidFill>
                <a:latin typeface="Calibri"/>
              </a:rPr>
              <a:t>10 copie sul tavolo, pronte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927" y="4937760"/>
            <a:ext cx="3291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5166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A2620"/>
                </a:solidFill>
                <a:latin typeface="Georgia"/>
              </a:rPr>
              <a:t>Versione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56235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7A6F60"/>
                </a:solidFill>
                <a:latin typeface="Calibri"/>
              </a:rPr>
              <a:t>QR code (da inserire)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6087" y="4937760"/>
            <a:ext cx="3291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D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407" y="5166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A2620"/>
                </a:solidFill>
                <a:latin typeface="Georgia"/>
              </a:rPr>
              <a:t>Per dopo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07" y="56235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7A6F60"/>
                </a:solidFill>
                <a:latin typeface="Calibri"/>
              </a:rPr>
              <a:t>[Telefono]</a:t>
            </a:r>
          </a:p>
          <a:p>
            <a:pPr algn="ctr"/>
            <a:r>
              <a:rPr sz="1100" b="0" i="0">
                <a:solidFill>
                  <a:srgbClr val="7A6F60"/>
                </a:solidFill>
                <a:latin typeface="Calibri"/>
              </a:rPr>
              <a:t>[Email]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7A6F6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